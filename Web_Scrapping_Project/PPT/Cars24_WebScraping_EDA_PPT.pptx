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7681DA-4D50-4578-960E-0A464BE4BD16}" v="4" dt="2026-09-29T10:48:44.7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Teja Gollapalli" userId="da9f6a386324c202" providerId="LiveId" clId="{E6DEEC22-914F-474B-AEE7-897F1DFC8901}"/>
    <pc:docChg chg="undo custSel modSld">
      <pc:chgData name="Sai Teja Gollapalli" userId="da9f6a386324c202" providerId="LiveId" clId="{E6DEEC22-914F-474B-AEE7-897F1DFC8901}" dt="2026-09-29T10:48:41.700" v="130"/>
      <pc:docMkLst>
        <pc:docMk/>
      </pc:docMkLst>
      <pc:sldChg chg="delSp mod">
        <pc:chgData name="Sai Teja Gollapalli" userId="da9f6a386324c202" providerId="LiveId" clId="{E6DEEC22-914F-474B-AEE7-897F1DFC8901}" dt="2026-09-28T06:49:38.440" v="0" actId="478"/>
        <pc:sldMkLst>
          <pc:docMk/>
          <pc:sldMk cId="0" sldId="261"/>
        </pc:sldMkLst>
        <pc:picChg chg="del">
          <ac:chgData name="Sai Teja Gollapalli" userId="da9f6a386324c202" providerId="LiveId" clId="{E6DEEC22-914F-474B-AEE7-897F1DFC8901}" dt="2026-09-28T06:49:38.440" v="0" actId="478"/>
          <ac:picMkLst>
            <pc:docMk/>
            <pc:sldMk cId="0" sldId="261"/>
            <ac:picMk id="11" creationId="{78236E12-7440-3F94-E1F7-29D6F13F8C66}"/>
          </ac:picMkLst>
        </pc:picChg>
      </pc:sldChg>
      <pc:sldChg chg="delSp mod">
        <pc:chgData name="Sai Teja Gollapalli" userId="da9f6a386324c202" providerId="LiveId" clId="{E6DEEC22-914F-474B-AEE7-897F1DFC8901}" dt="2026-09-28T06:49:43.861" v="1" actId="478"/>
        <pc:sldMkLst>
          <pc:docMk/>
          <pc:sldMk cId="0" sldId="262"/>
        </pc:sldMkLst>
        <pc:picChg chg="del">
          <ac:chgData name="Sai Teja Gollapalli" userId="da9f6a386324c202" providerId="LiveId" clId="{E6DEEC22-914F-474B-AEE7-897F1DFC8901}" dt="2026-09-28T06:49:43.861" v="1" actId="478"/>
          <ac:picMkLst>
            <pc:docMk/>
            <pc:sldMk cId="0" sldId="262"/>
            <ac:picMk id="11" creationId="{862F9008-CF21-A1E6-C46D-77214506E064}"/>
          </ac:picMkLst>
        </pc:picChg>
      </pc:sldChg>
      <pc:sldChg chg="delSp mod">
        <pc:chgData name="Sai Teja Gollapalli" userId="da9f6a386324c202" providerId="LiveId" clId="{E6DEEC22-914F-474B-AEE7-897F1DFC8901}" dt="2026-09-28T06:49:53.096" v="2" actId="478"/>
        <pc:sldMkLst>
          <pc:docMk/>
          <pc:sldMk cId="0" sldId="263"/>
        </pc:sldMkLst>
        <pc:picChg chg="del">
          <ac:chgData name="Sai Teja Gollapalli" userId="da9f6a386324c202" providerId="LiveId" clId="{E6DEEC22-914F-474B-AEE7-897F1DFC8901}" dt="2026-09-28T06:49:53.096" v="2" actId="478"/>
          <ac:picMkLst>
            <pc:docMk/>
            <pc:sldMk cId="0" sldId="263"/>
            <ac:picMk id="13" creationId="{F04D02DE-7946-91F2-563A-8EAD5BAE38B2}"/>
          </ac:picMkLst>
        </pc:picChg>
      </pc:sldChg>
      <pc:sldChg chg="modSp mod">
        <pc:chgData name="Sai Teja Gollapalli" userId="da9f6a386324c202" providerId="LiveId" clId="{E6DEEC22-914F-474B-AEE7-897F1DFC8901}" dt="2026-09-28T07:01:37.826" v="79" actId="1076"/>
        <pc:sldMkLst>
          <pc:docMk/>
          <pc:sldMk cId="0" sldId="264"/>
        </pc:sldMkLst>
        <pc:spChg chg="mod">
          <ac:chgData name="Sai Teja Gollapalli" userId="da9f6a386324c202" providerId="LiveId" clId="{E6DEEC22-914F-474B-AEE7-897F1DFC8901}" dt="2026-09-28T06:54:38.449" v="29" actId="1035"/>
          <ac:spMkLst>
            <pc:docMk/>
            <pc:sldMk cId="0" sldId="264"/>
            <ac:spMk id="2" creationId="{00000000-0000-0000-0000-000000000000}"/>
          </ac:spMkLst>
        </pc:spChg>
        <pc:picChg chg="mod modCrop">
          <ac:chgData name="Sai Teja Gollapalli" userId="da9f6a386324c202" providerId="LiveId" clId="{E6DEEC22-914F-474B-AEE7-897F1DFC8901}" dt="2026-09-28T07:01:37.826" v="79" actId="1076"/>
          <ac:picMkLst>
            <pc:docMk/>
            <pc:sldMk cId="0" sldId="264"/>
            <ac:picMk id="13" creationId="{C97A4E0A-4E79-CC9B-050E-4D8B4D9ACFE4}"/>
          </ac:picMkLst>
        </pc:picChg>
        <pc:picChg chg="mod modCrop">
          <ac:chgData name="Sai Teja Gollapalli" userId="da9f6a386324c202" providerId="LiveId" clId="{E6DEEC22-914F-474B-AEE7-897F1DFC8901}" dt="2026-09-28T06:51:29.487" v="12" actId="732"/>
          <ac:picMkLst>
            <pc:docMk/>
            <pc:sldMk cId="0" sldId="264"/>
            <ac:picMk id="15" creationId="{D2B01402-AD0F-3E7F-1F00-E1AE84CE725A}"/>
          </ac:picMkLst>
        </pc:picChg>
      </pc:sldChg>
      <pc:sldChg chg="modSp mod">
        <pc:chgData name="Sai Teja Gollapalli" userId="da9f6a386324c202" providerId="LiveId" clId="{E6DEEC22-914F-474B-AEE7-897F1DFC8901}" dt="2026-09-28T07:01:31.531" v="78" actId="1076"/>
        <pc:sldMkLst>
          <pc:docMk/>
          <pc:sldMk cId="0" sldId="265"/>
        </pc:sldMkLst>
        <pc:spChg chg="mod">
          <ac:chgData name="Sai Teja Gollapalli" userId="da9f6a386324c202" providerId="LiveId" clId="{E6DEEC22-914F-474B-AEE7-897F1DFC8901}" dt="2026-09-28T07:01:31.531" v="78" actId="1076"/>
          <ac:spMkLst>
            <pc:docMk/>
            <pc:sldMk cId="0" sldId="265"/>
            <ac:spMk id="8" creationId="{00000000-0000-0000-0000-000000000000}"/>
          </ac:spMkLst>
        </pc:spChg>
        <pc:picChg chg="mod modCrop">
          <ac:chgData name="Sai Teja Gollapalli" userId="da9f6a386324c202" providerId="LiveId" clId="{E6DEEC22-914F-474B-AEE7-897F1DFC8901}" dt="2026-09-28T07:01:27.038" v="77" actId="14100"/>
          <ac:picMkLst>
            <pc:docMk/>
            <pc:sldMk cId="0" sldId="265"/>
            <ac:picMk id="18" creationId="{1429D748-40BF-0FD7-3B91-3018B3914562}"/>
          </ac:picMkLst>
        </pc:picChg>
      </pc:sldChg>
      <pc:sldChg chg="modSp mod">
        <pc:chgData name="Sai Teja Gollapalli" userId="da9f6a386324c202" providerId="LiveId" clId="{E6DEEC22-914F-474B-AEE7-897F1DFC8901}" dt="2026-09-28T07:00:45.288" v="71" actId="14100"/>
        <pc:sldMkLst>
          <pc:docMk/>
          <pc:sldMk cId="0" sldId="266"/>
        </pc:sldMkLst>
        <pc:spChg chg="mod">
          <ac:chgData name="Sai Teja Gollapalli" userId="da9f6a386324c202" providerId="LiveId" clId="{E6DEEC22-914F-474B-AEE7-897F1DFC8901}" dt="2026-09-28T06:56:31.745" v="41" actId="1076"/>
          <ac:spMkLst>
            <pc:docMk/>
            <pc:sldMk cId="0" sldId="266"/>
            <ac:spMk id="8" creationId="{00000000-0000-0000-0000-000000000000}"/>
          </ac:spMkLst>
        </pc:spChg>
        <pc:picChg chg="mod modCrop">
          <ac:chgData name="Sai Teja Gollapalli" userId="da9f6a386324c202" providerId="LiveId" clId="{E6DEEC22-914F-474B-AEE7-897F1DFC8901}" dt="2026-09-28T07:00:45.288" v="71" actId="14100"/>
          <ac:picMkLst>
            <pc:docMk/>
            <pc:sldMk cId="0" sldId="266"/>
            <ac:picMk id="12" creationId="{5DF2C2BD-5F4E-9B87-3ED7-2E9BB9C9306E}"/>
          </ac:picMkLst>
        </pc:picChg>
      </pc:sldChg>
      <pc:sldChg chg="modSp mod">
        <pc:chgData name="Sai Teja Gollapalli" userId="da9f6a386324c202" providerId="LiveId" clId="{E6DEEC22-914F-474B-AEE7-897F1DFC8901}" dt="2026-09-28T07:01:06.209" v="74" actId="14100"/>
        <pc:sldMkLst>
          <pc:docMk/>
          <pc:sldMk cId="0" sldId="267"/>
        </pc:sldMkLst>
        <pc:spChg chg="mod">
          <ac:chgData name="Sai Teja Gollapalli" userId="da9f6a386324c202" providerId="LiveId" clId="{E6DEEC22-914F-474B-AEE7-897F1DFC8901}" dt="2026-09-28T06:57:18.347" v="46" actId="1076"/>
          <ac:spMkLst>
            <pc:docMk/>
            <pc:sldMk cId="0" sldId="267"/>
            <ac:spMk id="8" creationId="{00000000-0000-0000-0000-000000000000}"/>
          </ac:spMkLst>
        </pc:spChg>
        <pc:picChg chg="mod modCrop">
          <ac:chgData name="Sai Teja Gollapalli" userId="da9f6a386324c202" providerId="LiveId" clId="{E6DEEC22-914F-474B-AEE7-897F1DFC8901}" dt="2026-09-28T07:01:06.209" v="74" actId="14100"/>
          <ac:picMkLst>
            <pc:docMk/>
            <pc:sldMk cId="0" sldId="267"/>
            <ac:picMk id="12" creationId="{A280F135-B2CE-6F04-6ABA-A196251674D9}"/>
          </ac:picMkLst>
        </pc:picChg>
      </pc:sldChg>
      <pc:sldChg chg="modSp mod">
        <pc:chgData name="Sai Teja Gollapalli" userId="da9f6a386324c202" providerId="LiveId" clId="{E6DEEC22-914F-474B-AEE7-897F1DFC8901}" dt="2026-09-28T07:00:23.012" v="67" actId="14100"/>
        <pc:sldMkLst>
          <pc:docMk/>
          <pc:sldMk cId="0" sldId="268"/>
        </pc:sldMkLst>
        <pc:picChg chg="mod modCrop">
          <ac:chgData name="Sai Teja Gollapalli" userId="da9f6a386324c202" providerId="LiveId" clId="{E6DEEC22-914F-474B-AEE7-897F1DFC8901}" dt="2026-09-28T06:58:43.580" v="57" actId="14100"/>
          <ac:picMkLst>
            <pc:docMk/>
            <pc:sldMk cId="0" sldId="268"/>
            <ac:picMk id="12" creationId="{8AED4921-F15A-EBC2-4C29-E8E5D1AE54C3}"/>
          </ac:picMkLst>
        </pc:picChg>
        <pc:picChg chg="mod modCrop">
          <ac:chgData name="Sai Teja Gollapalli" userId="da9f6a386324c202" providerId="LiveId" clId="{E6DEEC22-914F-474B-AEE7-897F1DFC8901}" dt="2026-09-28T06:58:50.675" v="58" actId="14100"/>
          <ac:picMkLst>
            <pc:docMk/>
            <pc:sldMk cId="0" sldId="268"/>
            <ac:picMk id="14" creationId="{E1F393C7-ACD4-31DB-1349-BE00A1C64C84}"/>
          </ac:picMkLst>
        </pc:picChg>
        <pc:picChg chg="mod modCrop">
          <ac:chgData name="Sai Teja Gollapalli" userId="da9f6a386324c202" providerId="LiveId" clId="{E6DEEC22-914F-474B-AEE7-897F1DFC8901}" dt="2026-09-28T07:00:23.012" v="67" actId="14100"/>
          <ac:picMkLst>
            <pc:docMk/>
            <pc:sldMk cId="0" sldId="268"/>
            <ac:picMk id="16" creationId="{EF6EEE9E-D9FD-56AC-8212-2A50D0126B81}"/>
          </ac:picMkLst>
        </pc:picChg>
      </pc:sldChg>
      <pc:sldChg chg="modSp mod">
        <pc:chgData name="Sai Teja Gollapalli" userId="da9f6a386324c202" providerId="LiveId" clId="{E6DEEC22-914F-474B-AEE7-897F1DFC8901}" dt="2026-09-28T07:03:20.777" v="91" actId="14100"/>
        <pc:sldMkLst>
          <pc:docMk/>
          <pc:sldMk cId="0" sldId="269"/>
        </pc:sldMkLst>
        <pc:picChg chg="mod modCrop">
          <ac:chgData name="Sai Teja Gollapalli" userId="da9f6a386324c202" providerId="LiveId" clId="{E6DEEC22-914F-474B-AEE7-897F1DFC8901}" dt="2026-09-28T07:03:20.777" v="91" actId="14100"/>
          <ac:picMkLst>
            <pc:docMk/>
            <pc:sldMk cId="0" sldId="269"/>
            <ac:picMk id="9" creationId="{C50882FF-CD63-46CE-5C60-768FDA6FBE66}"/>
          </ac:picMkLst>
        </pc:picChg>
      </pc:sldChg>
      <pc:sldChg chg="modSp mod">
        <pc:chgData name="Sai Teja Gollapalli" userId="da9f6a386324c202" providerId="LiveId" clId="{E6DEEC22-914F-474B-AEE7-897F1DFC8901}" dt="2026-09-28T07:04:29.632" v="102" actId="1036"/>
        <pc:sldMkLst>
          <pc:docMk/>
          <pc:sldMk cId="0" sldId="270"/>
        </pc:sldMkLst>
        <pc:spChg chg="mod">
          <ac:chgData name="Sai Teja Gollapalli" userId="da9f6a386324c202" providerId="LiveId" clId="{E6DEEC22-914F-474B-AEE7-897F1DFC8901}" dt="2026-09-28T07:04:29.632" v="102" actId="1036"/>
          <ac:spMkLst>
            <pc:docMk/>
            <pc:sldMk cId="0" sldId="270"/>
            <ac:spMk id="2" creationId="{00000000-0000-0000-0000-000000000000}"/>
          </ac:spMkLst>
        </pc:spChg>
        <pc:spChg chg="mod">
          <ac:chgData name="Sai Teja Gollapalli" userId="da9f6a386324c202" providerId="LiveId" clId="{E6DEEC22-914F-474B-AEE7-897F1DFC8901}" dt="2026-09-28T07:04:24.527" v="101" actId="1076"/>
          <ac:spMkLst>
            <pc:docMk/>
            <pc:sldMk cId="0" sldId="270"/>
            <ac:spMk id="8" creationId="{00000000-0000-0000-0000-000000000000}"/>
          </ac:spMkLst>
        </pc:spChg>
        <pc:picChg chg="mod modCrop">
          <ac:chgData name="Sai Teja Gollapalli" userId="da9f6a386324c202" providerId="LiveId" clId="{E6DEEC22-914F-474B-AEE7-897F1DFC8901}" dt="2026-09-28T07:04:18.537" v="100" actId="1076"/>
          <ac:picMkLst>
            <pc:docMk/>
            <pc:sldMk cId="0" sldId="270"/>
            <ac:picMk id="9" creationId="{3F18CA74-5757-1ECB-587B-1AE1CAF70638}"/>
          </ac:picMkLst>
        </pc:picChg>
      </pc:sldChg>
      <pc:sldChg chg="modSp mod">
        <pc:chgData name="Sai Teja Gollapalli" userId="da9f6a386324c202" providerId="LiveId" clId="{E6DEEC22-914F-474B-AEE7-897F1DFC8901}" dt="2026-09-28T07:05:08.429" v="108" actId="14100"/>
        <pc:sldMkLst>
          <pc:docMk/>
          <pc:sldMk cId="0" sldId="271"/>
        </pc:sldMkLst>
        <pc:picChg chg="mod modCrop">
          <ac:chgData name="Sai Teja Gollapalli" userId="da9f6a386324c202" providerId="LiveId" clId="{E6DEEC22-914F-474B-AEE7-897F1DFC8901}" dt="2026-09-28T07:05:08.429" v="108" actId="14100"/>
          <ac:picMkLst>
            <pc:docMk/>
            <pc:sldMk cId="0" sldId="271"/>
            <ac:picMk id="11" creationId="{7B9EF8A3-D22C-66B9-EE76-4070BCD42629}"/>
          </ac:picMkLst>
        </pc:picChg>
      </pc:sldChg>
      <pc:sldChg chg="modSp mod">
        <pc:chgData name="Sai Teja Gollapalli" userId="da9f6a386324c202" providerId="LiveId" clId="{E6DEEC22-914F-474B-AEE7-897F1DFC8901}" dt="2026-09-28T07:06:14.252" v="118" actId="1036"/>
        <pc:sldMkLst>
          <pc:docMk/>
          <pc:sldMk cId="0" sldId="272"/>
        </pc:sldMkLst>
        <pc:spChg chg="mod">
          <ac:chgData name="Sai Teja Gollapalli" userId="da9f6a386324c202" providerId="LiveId" clId="{E6DEEC22-914F-474B-AEE7-897F1DFC8901}" dt="2026-09-28T07:06:14.252" v="118" actId="1036"/>
          <ac:spMkLst>
            <pc:docMk/>
            <pc:sldMk cId="0" sldId="272"/>
            <ac:spMk id="2" creationId="{00000000-0000-0000-0000-000000000000}"/>
          </ac:spMkLst>
        </pc:spChg>
        <pc:picChg chg="mod modCrop">
          <ac:chgData name="Sai Teja Gollapalli" userId="da9f6a386324c202" providerId="LiveId" clId="{E6DEEC22-914F-474B-AEE7-897F1DFC8901}" dt="2026-09-28T07:05:55.011" v="117" actId="1076"/>
          <ac:picMkLst>
            <pc:docMk/>
            <pc:sldMk cId="0" sldId="272"/>
            <ac:picMk id="10" creationId="{F38F3780-7AF3-6FCA-BFA3-943AEDACF5AB}"/>
          </ac:picMkLst>
        </pc:picChg>
      </pc:sldChg>
      <pc:sldChg chg="modSp mod">
        <pc:chgData name="Sai Teja Gollapalli" userId="da9f6a386324c202" providerId="LiveId" clId="{E6DEEC22-914F-474B-AEE7-897F1DFC8901}" dt="2026-09-28T07:06:58.838" v="123" actId="1076"/>
        <pc:sldMkLst>
          <pc:docMk/>
          <pc:sldMk cId="0" sldId="273"/>
        </pc:sldMkLst>
        <pc:picChg chg="mod modCrop">
          <ac:chgData name="Sai Teja Gollapalli" userId="da9f6a386324c202" providerId="LiveId" clId="{E6DEEC22-914F-474B-AEE7-897F1DFC8901}" dt="2026-09-28T07:06:58.838" v="123" actId="1076"/>
          <ac:picMkLst>
            <pc:docMk/>
            <pc:sldMk cId="0" sldId="273"/>
            <ac:picMk id="10" creationId="{42F28A68-5E0D-88CA-AF53-DB18551A5B40}"/>
          </ac:picMkLst>
        </pc:picChg>
      </pc:sldChg>
      <pc:sldChg chg="modSp mod">
        <pc:chgData name="Sai Teja Gollapalli" userId="da9f6a386324c202" providerId="LiveId" clId="{E6DEEC22-914F-474B-AEE7-897F1DFC8901}" dt="2026-09-28T07:07:32.115" v="127" actId="1076"/>
        <pc:sldMkLst>
          <pc:docMk/>
          <pc:sldMk cId="0" sldId="274"/>
        </pc:sldMkLst>
        <pc:picChg chg="mod modCrop">
          <ac:chgData name="Sai Teja Gollapalli" userId="da9f6a386324c202" providerId="LiveId" clId="{E6DEEC22-914F-474B-AEE7-897F1DFC8901}" dt="2026-09-28T07:07:32.115" v="127" actId="1076"/>
          <ac:picMkLst>
            <pc:docMk/>
            <pc:sldMk cId="0" sldId="274"/>
            <ac:picMk id="10" creationId="{7D0A2830-72D7-2A48-E7D3-406B8A247EF6}"/>
          </ac:picMkLst>
        </pc:picChg>
      </pc:sldChg>
      <pc:sldChg chg="addSp delSp modSp modTransition modAnim">
        <pc:chgData name="Sai Teja Gollapalli" userId="da9f6a386324c202" providerId="LiveId" clId="{E6DEEC22-914F-474B-AEE7-897F1DFC8901}" dt="2026-09-29T10:48:41.700" v="130"/>
        <pc:sldMkLst>
          <pc:docMk/>
          <pc:sldMk cId="2151075307" sldId="279"/>
        </pc:sldMkLst>
        <pc:picChg chg="add del mod">
          <ac:chgData name="Sai Teja Gollapalli" userId="da9f6a386324c202" providerId="LiveId" clId="{E6DEEC22-914F-474B-AEE7-897F1DFC8901}" dt="2026-09-29T10:46:14.390" v="129"/>
          <ac:picMkLst>
            <pc:docMk/>
            <pc:sldMk cId="2151075307" sldId="279"/>
            <ac:picMk id="2" creationId="{86B2BF64-F056-2489-AD88-2E054AEC1353}"/>
          </ac:picMkLst>
        </pc:picChg>
        <pc:inkChg chg="add">
          <ac:chgData name="Sai Teja Gollapalli" userId="da9f6a386324c202" providerId="LiveId" clId="{E6DEEC22-914F-474B-AEE7-897F1DFC8901}" dt="2026-09-29T10:48:41.700" v="130"/>
          <ac:inkMkLst>
            <pc:docMk/>
            <pc:sldMk cId="2151075307" sldId="279"/>
            <ac:inkMk id="4" creationId="{E1F2DF57-59AA-AD7A-4983-D5C5744B5632}"/>
          </ac:inkMkLst>
        </pc:inkChg>
        <pc:inkChg chg="add">
          <ac:chgData name="Sai Teja Gollapalli" userId="da9f6a386324c202" providerId="LiveId" clId="{E6DEEC22-914F-474B-AEE7-897F1DFC8901}" dt="2026-09-29T10:48:41.700" v="130"/>
          <ac:inkMkLst>
            <pc:docMk/>
            <pc:sldMk cId="2151075307" sldId="279"/>
            <ac:inkMk id="6" creationId="{30C1B099-AD85-81F5-CA20-789EBDE1954E}"/>
          </ac:inkMkLst>
        </pc:inkChg>
        <pc:inkChg chg="add">
          <ac:chgData name="Sai Teja Gollapalli" userId="da9f6a386324c202" providerId="LiveId" clId="{E6DEEC22-914F-474B-AEE7-897F1DFC8901}" dt="2026-09-29T10:48:41.700" v="130"/>
          <ac:inkMkLst>
            <pc:docMk/>
            <pc:sldMk cId="2151075307" sldId="279"/>
            <ac:inkMk id="7" creationId="{F32B1D49-692F-C490-244F-BD78B05BEC03}"/>
          </ac:inkMkLst>
        </pc:inkChg>
        <pc:inkChg chg="add">
          <ac:chgData name="Sai Teja Gollapalli" userId="da9f6a386324c202" providerId="LiveId" clId="{E6DEEC22-914F-474B-AEE7-897F1DFC8901}" dt="2026-09-29T10:48:41.700" v="130"/>
          <ac:inkMkLst>
            <pc:docMk/>
            <pc:sldMk cId="2151075307" sldId="279"/>
            <ac:inkMk id="8" creationId="{C1C36B75-5B0B-1792-4A2C-CFD3AF400323}"/>
          </ac:inkMkLst>
        </pc:ink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iteja-0518" TargetMode="External"/><Relationship Id="rId2" Type="http://schemas.openxmlformats.org/officeDocument/2006/relationships/hyperlink" Target="https://www.linkedin.com/in/sai-teja-gollapalli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8;p1">
            <a:extLst>
              <a:ext uri="{FF2B5EF4-FFF2-40B4-BE49-F238E27FC236}">
                <a16:creationId xmlns:a16="http://schemas.microsoft.com/office/drawing/2014/main" id="{5219E262-BB5F-D79A-B64C-64120645219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9865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5D9C13-7470-F1C4-059F-A819DD42EFEF}"/>
              </a:ext>
            </a:extLst>
          </p:cNvPr>
          <p:cNvSpPr txBox="1"/>
          <p:nvPr/>
        </p:nvSpPr>
        <p:spPr>
          <a:xfrm>
            <a:off x="2900934" y="3628936"/>
            <a:ext cx="67002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ts val="1800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Car Market Analysis Using Web Scraping &amp; Exploratory Data Analysis</a:t>
            </a:r>
            <a:endParaRPr lang="en-US" sz="28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1075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BE2323"/>
                </a:solidFill>
                <a:latin typeface="Georgia"/>
              </a:defRPr>
            </a:pPr>
            <a:r>
              <a:rPr dirty="0"/>
              <a:t>ABOUT 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88136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92735"/>
            <a:ext cx="8549640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Georgia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GOLLAPALLI SAI TEJA</a:t>
            </a: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Georgia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DS-541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Georgia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 ID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81010517526</a:t>
            </a: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Georgia"/>
              </a:defRPr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CARS24 USED CAR MARKET ANALYSIS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Georgia"/>
              </a:defRPr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https://www.linkedin.com/in/sai-teja-gollapalli/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Georgia"/>
              </a:defRPr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https://github.com/saiteja-0518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E73B87-2432-6F2F-3BD6-56AFBF9AA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088" y="6253353"/>
            <a:ext cx="3337369" cy="5033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204469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BE2323"/>
                </a:solidFill>
                <a:latin typeface="Georgia"/>
              </a:defRPr>
            </a:pPr>
            <a:r>
              <a:rPr dirty="0"/>
              <a:t>OBJECTIVE OF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88136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47164"/>
            <a:ext cx="10433304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§"/>
              <a:defRPr sz="1500">
                <a:solidFill>
                  <a:srgbClr val="191919"/>
                </a:solidFill>
                <a:latin typeface="Georgia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used-car listing data from Cars24 Hyderabad using web scraping techniques.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§"/>
              <a:defRPr sz="1500">
                <a:solidFill>
                  <a:srgbClr val="191919"/>
                </a:solidFill>
                <a:latin typeface="Georgia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structured dataset from dynamically loaded website content.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§"/>
              <a:defRPr sz="1500">
                <a:solidFill>
                  <a:srgbClr val="191919"/>
                </a:solidFill>
                <a:latin typeface="Georgia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clean missing, inconsistent and text-formatted values before analysis.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§"/>
              <a:defRPr sz="1500">
                <a:solidFill>
                  <a:srgbClr val="191919"/>
                </a:solidFill>
                <a:latin typeface="Georgia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brand, fuel type, transmission, year, KM driven and price.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§"/>
              <a:defRPr sz="1500">
                <a:solidFill>
                  <a:srgbClr val="191919"/>
                </a:solidFill>
                <a:latin typeface="Georgia"/>
              </a:defRPr>
            </a:pPr>
            <a:r>
              <a:rPr lang="en-IN" sz="20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identify patterns and relationships between price and vehicle attributes.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§"/>
              <a:defRPr sz="1500">
                <a:solidFill>
                  <a:srgbClr val="191919"/>
                </a:solidFill>
                <a:latin typeface="Georgia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summarize findings using visualizations and pivot tables.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A5BDC5-B07C-A422-07DF-8AB374765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88" y="6428232"/>
            <a:ext cx="3337369" cy="5033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BE2323"/>
                </a:solidFill>
                <a:latin typeface="Georgia"/>
              </a:defRPr>
            </a:pPr>
            <a:r>
              <a:t>TECHNOLOGIES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88136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00984" y="1325880"/>
            <a:ext cx="5303520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§"/>
              <a:defRPr sz="1500">
                <a:solidFill>
                  <a:srgbClr val="191919"/>
                </a:solidFill>
                <a:latin typeface="Georgia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programming and scripting.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§"/>
              <a:defRPr sz="1500">
                <a:solidFill>
                  <a:srgbClr val="191919"/>
                </a:solidFill>
                <a:latin typeface="Georgia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 — </a:t>
            </a:r>
            <a:r>
              <a:rPr lang="en-IN" sz="20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sending HTTP requests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§"/>
              <a:defRPr sz="1500">
                <a:solidFill>
                  <a:srgbClr val="191919"/>
                </a:solidFill>
                <a:latin typeface="Georgia"/>
              </a:defRPr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parsing HTML content.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§"/>
              <a:defRPr sz="1500">
                <a:solidFill>
                  <a:srgbClr val="191919"/>
                </a:solidFill>
                <a:latin typeface="Georgia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— data cleaning and analysis.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§"/>
              <a:defRPr sz="1500">
                <a:solidFill>
                  <a:srgbClr val="191919"/>
                </a:solidFill>
                <a:latin typeface="Georgia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— numerical operations.</a:t>
            </a:r>
          </a:p>
          <a:p>
            <a:pPr marL="342900" indent="-342900">
              <a:spcAft>
                <a:spcPts val="900"/>
              </a:spcAft>
              <a:buFont typeface="Wingdings" panose="05000000000000000000" pitchFamily="2" charset="2"/>
              <a:buChar char="§"/>
              <a:defRPr sz="1500">
                <a:solidFill>
                  <a:srgbClr val="191919"/>
                </a:solidFill>
                <a:latin typeface="Georgia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and Seaborn — data visualization.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5C3E5B-96A4-8007-578C-9070825A2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504" y="6276570"/>
            <a:ext cx="3337369" cy="5033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BE2323"/>
                </a:solidFill>
                <a:latin typeface="Georgia"/>
              </a:defRPr>
            </a:pPr>
            <a:r>
              <a:t>DATA COLLECTION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88136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72009" y="1289304"/>
            <a:ext cx="5532120" cy="2508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§"/>
              <a:defRPr sz="1500">
                <a:solidFill>
                  <a:srgbClr val="191919"/>
                </a:solidFill>
                <a:latin typeface="Georgia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Cars24 used-car listings for Hyderabad.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§"/>
              <a:defRPr sz="1500">
                <a:solidFill>
                  <a:srgbClr val="191919"/>
                </a:solidFill>
                <a:latin typeface="Georgia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 and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used for HTML parsing.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§"/>
              <a:defRPr sz="1500">
                <a:solidFill>
                  <a:srgbClr val="191919"/>
                </a:solidFill>
                <a:latin typeface="Georgia"/>
              </a:defRPr>
            </a:pPr>
            <a:r>
              <a:rPr lang="en-IN" sz="16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Since the listings are dynamically loaded, Selenium was </a:t>
            </a: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Georgia"/>
              </a:defRPr>
            </a:pPr>
            <a:r>
              <a:rPr lang="en-IN" sz="16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used to load and scroll through the page.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§"/>
              <a:defRPr sz="1500">
                <a:solidFill>
                  <a:srgbClr val="191919"/>
                </a:solidFill>
                <a:latin typeface="Georgia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values were organized into lists and converted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Georgia"/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a Pandas Data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§"/>
              <a:defRPr sz="1500">
                <a:solidFill>
                  <a:srgbClr val="191919"/>
                </a:solidFill>
                <a:latin typeface="Georgia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data was saved for cleaning and analysis.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84F2F8-1F9E-3CB7-98A8-C780FE5C2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1045" y="6262878"/>
            <a:ext cx="3333750" cy="49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D925A6-7894-6F2B-FADE-137C702F7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857" y="1764790"/>
            <a:ext cx="6114134" cy="36228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BE2323"/>
                </a:solidFill>
                <a:latin typeface="Georgia"/>
              </a:defRPr>
            </a:pPr>
            <a:r>
              <a:rPr dirty="0"/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88136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1206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§"/>
              <a:defRPr sz="1500">
                <a:solidFill>
                  <a:srgbClr val="191919"/>
                </a:solidFill>
                <a:latin typeface="Georgia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Initial scraped records: 211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§"/>
              <a:defRPr sz="1500">
                <a:solidFill>
                  <a:srgbClr val="191919"/>
                </a:solidFill>
                <a:latin typeface="Georgia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Final cleaned records: 18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§"/>
              <a:defRPr sz="1500">
                <a:solidFill>
                  <a:srgbClr val="191919"/>
                </a:solidFill>
                <a:latin typeface="Georgia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features: 10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§"/>
              <a:defRPr sz="1500">
                <a:solidFill>
                  <a:srgbClr val="191919"/>
                </a:solidFill>
                <a:latin typeface="Georgia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Location: Hyderabad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§"/>
              <a:defRPr sz="1500">
                <a:solidFill>
                  <a:srgbClr val="191919"/>
                </a:solidFill>
                <a:latin typeface="Georgia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Columns: Car Name, Year, Brand, Model, Variant, KM Driven, Fuel Type, Transmission, Registration and Price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290E29-8710-F8F3-1836-27617F481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928" y="6258839"/>
            <a:ext cx="3337369" cy="5033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BE2323"/>
                </a:solidFill>
                <a:latin typeface="Georgia"/>
              </a:defRPr>
            </a:pPr>
            <a:r>
              <a:t>DATASET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88136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364480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Georgia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Car Name, Brand, Model and Variant describe the vehicle.</a:t>
            </a: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Georgia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Year represents the vehicle year.</a:t>
            </a: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Georgia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KM Driven represents distance travelled.</a:t>
            </a: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Georgia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Fuel Type and Transmission describe vehicle configuration.</a:t>
            </a: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Georgia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Registration contains the registration information captured from the listing.</a:t>
            </a: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Georgia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Price is the listed selling price.</a:t>
            </a: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Georgia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is an EDA project, so there is no machine-learning target variable.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832989-2FBC-37C3-1348-D81612E24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6289471"/>
            <a:ext cx="3337369" cy="5033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BE2323"/>
                </a:solidFill>
                <a:latin typeface="Georgia"/>
              </a:defRPr>
            </a:pPr>
            <a:r>
              <a:rPr dirty="0"/>
              <a:t>DATA CLEANING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88136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614416" cy="2885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Georgia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Year had 23 missing values and Model had 13 missing values.</a:t>
            </a: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Georgia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Rows missing Year or Model were removed because these fields are important for analysis.</a:t>
            </a: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Georgia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KM Driven values were cleaned by removing commas and converted to integer.</a:t>
            </a: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Georgia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Price values such as '1.33 lakh' were converted into rupee values.</a:t>
            </a: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Georgia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types were checked before EDA.</a:t>
            </a: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Georgia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Final dataset: 18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rows × 10 columns.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FCB8C6-E2A4-A864-11AF-795415D2C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648" y="6276570"/>
            <a:ext cx="3337369" cy="5033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BE2323"/>
                </a:solidFill>
                <a:latin typeface="Georgia"/>
              </a:defRPr>
            </a:pPr>
            <a:r>
              <a:t>OUTLIER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88136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486400" cy="2162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Georgia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Potential outliers were examined mainly for Price and KM Driven.</a:t>
            </a: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Georgia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IQR method was used to identify extreme observations.</a:t>
            </a: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Georgia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Boxplots were used to visually inspect the spread.</a:t>
            </a: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Georgia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Extreme values were interpreted in the context of real used-car listings rather than automatically treating every extreme value as an error.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2767B7-B8A0-EAC9-4FAA-7993E5BDA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8784" y="6258839"/>
            <a:ext cx="3337369" cy="5033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7A4E0A-4E79-CC9B-050E-4D8B4D9ACF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01" t="19710" r="1800" b="2826"/>
          <a:stretch>
            <a:fillRect/>
          </a:stretch>
        </p:blipFill>
        <p:spPr>
          <a:xfrm>
            <a:off x="6227095" y="3530691"/>
            <a:ext cx="4876779" cy="19903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2B01402-AD0F-3E7F-1F00-E1AE84CE72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09" t="20565" r="2488" b="2362"/>
          <a:stretch>
            <a:fillRect/>
          </a:stretch>
        </p:blipFill>
        <p:spPr>
          <a:xfrm>
            <a:off x="6561221" y="1230097"/>
            <a:ext cx="4539595" cy="20233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BE2323"/>
                </a:solidFill>
                <a:latin typeface="Georgia"/>
              </a:defRPr>
            </a:pPr>
            <a:r>
              <a:t>UNIVARIATE ANALYSIS — BRAND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88136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078992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91919"/>
                </a:solidFill>
                <a:latin typeface="Georgia"/>
              </a:defRPr>
            </a:pPr>
            <a:r>
              <a:rPr dirty="0"/>
              <a:t>Which brands have the highest representation in the scraped listings?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88848"/>
            <a:ext cx="102528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 sz="1200">
                <a:latin typeface="Georgia"/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Maruti has the highest number of listings, followed by Hyundai and Tata. The remaining brands have comparatively fewer listings in the collected dataset.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864A7B-30CF-2A90-0804-19D85FE38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496" y="6267983"/>
            <a:ext cx="3337369" cy="50337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429D748-40BF-0FD7-3B91-3018B39145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4" t="27114" r="1222"/>
          <a:stretch>
            <a:fillRect/>
          </a:stretch>
        </p:blipFill>
        <p:spPr>
          <a:xfrm>
            <a:off x="1066800" y="1547163"/>
            <a:ext cx="8944708" cy="33192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BE2323"/>
                </a:solidFill>
                <a:latin typeface="Georgia"/>
              </a:defRPr>
            </a:pPr>
            <a:r>
              <a:t>UNIVARIATE ANALYSIS — FUEL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88136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078992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91919"/>
                </a:solidFill>
                <a:latin typeface="Georgia"/>
              </a:defRPr>
            </a:pPr>
            <a:r>
              <a:t>How are the listings distributed across fuel types?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354" y="5331393"/>
            <a:ext cx="84947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 sz="1200">
                <a:latin typeface="Georgia"/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Petrol cars make up the majority of the listings, followed by Diesel, while CNG cars have very </a:t>
            </a:r>
          </a:p>
          <a:p>
            <a:pPr>
              <a:defRPr sz="1200">
                <a:latin typeface="Georgia"/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listings in the collected dataset.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2BB19D-2C2E-F585-E404-45BC527B6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496" y="6228922"/>
            <a:ext cx="3337369" cy="5033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F2C2BD-5F4E-9B87-3ED7-2E9BB9C930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13" t="21365" r="1176"/>
          <a:stretch>
            <a:fillRect/>
          </a:stretch>
        </p:blipFill>
        <p:spPr>
          <a:xfrm>
            <a:off x="1043354" y="1662381"/>
            <a:ext cx="8006861" cy="33562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BE2323"/>
                </a:solidFill>
                <a:latin typeface="Georgia"/>
              </a:defRPr>
            </a:pPr>
            <a:r>
              <a:t>UNIVARIATE ANALYSIS — TRANSMISSION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88136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078992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91919"/>
                </a:solidFill>
                <a:latin typeface="Georgia"/>
              </a:defRPr>
            </a:pPr>
            <a:r>
              <a:rPr dirty="0"/>
              <a:t>How are the cars distributed by transmission type?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71033"/>
            <a:ext cx="105176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 sz="1200">
                <a:latin typeface="Georgia"/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transmission cars form the majority of the listings, while automatic cars represent a smaller portion of the dataset.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AB1B97-ABD0-C418-687D-25D7EF8E0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072" y="6285714"/>
            <a:ext cx="3337369" cy="5033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80F135-B2CE-6F04-6ABA-A196251674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9" t="21312"/>
          <a:stretch>
            <a:fillRect/>
          </a:stretch>
        </p:blipFill>
        <p:spPr>
          <a:xfrm>
            <a:off x="1055076" y="1662380"/>
            <a:ext cx="9108831" cy="36397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247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BE2323"/>
                </a:solidFill>
                <a:latin typeface="Georgia"/>
              </a:defRPr>
            </a:pPr>
            <a:r>
              <a:rPr dirty="0"/>
              <a:t>UNIVARIATE ANALYSIS — PRICE, KM &amp; YEAR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88136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078992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91919"/>
                </a:solidFill>
                <a:latin typeface="Georgia"/>
              </a:defRPr>
            </a:pPr>
            <a:r>
              <a:rPr dirty="0"/>
              <a:t>How are the main numerical variables distributed?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92102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 sz="1200">
                <a:latin typeface="Georgia"/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price and KM Driven distributions show variation across the listings, while the year-wise chart shows</a:t>
            </a:r>
          </a:p>
          <a:p>
            <a:pPr>
              <a:defRPr sz="1200">
                <a:latin typeface="Georgia"/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the number of listings varies across manufacturing years.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363A25-44A9-544A-51C8-6CB2AB5B9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792" y="6258839"/>
            <a:ext cx="3337369" cy="5033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ED4921-F15A-EBC2-4C29-E8E5D1AE54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306"/>
          <a:stretch>
            <a:fillRect/>
          </a:stretch>
        </p:blipFill>
        <p:spPr>
          <a:xfrm>
            <a:off x="403868" y="1798283"/>
            <a:ext cx="3687486" cy="32614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1F393C7-ACD4-31DB-1349-BE00A1C64C8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043"/>
          <a:stretch>
            <a:fillRect/>
          </a:stretch>
        </p:blipFill>
        <p:spPr>
          <a:xfrm>
            <a:off x="4198623" y="1798283"/>
            <a:ext cx="3687486" cy="326143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F6EEE9E-D9FD-56AC-8212-2A50D0126B8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496"/>
          <a:stretch>
            <a:fillRect/>
          </a:stretch>
        </p:blipFill>
        <p:spPr>
          <a:xfrm>
            <a:off x="8084818" y="1798283"/>
            <a:ext cx="3687486" cy="32504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BE2323"/>
                </a:solidFill>
                <a:latin typeface="Georgia"/>
              </a:defRPr>
            </a:pPr>
            <a:r>
              <a:rPr dirty="0"/>
              <a:t>BIVARIATE ANALYSIS — AVERAGE PRICE BY BRAND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88136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078992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91919"/>
                </a:solidFill>
                <a:latin typeface="Georgia"/>
              </a:defRPr>
            </a:pPr>
            <a:r>
              <a:rPr dirty="0"/>
              <a:t>How does the average listed price vary across different brands?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685" y="5500669"/>
            <a:ext cx="104869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Ø"/>
              <a:defRPr sz="1300">
                <a:solidFill>
                  <a:srgbClr val="191919"/>
                </a:solidFill>
                <a:latin typeface="Georgia"/>
              </a:defRPr>
            </a:pPr>
            <a:r>
              <a:rPr lang="en-IN" sz="16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average listed price varies across brands. Tata has the highest average price in the dataset, while Volkswagen has the lowest among the brands shown.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68CAF7-B0C9-C422-B3B3-9D2BE57F8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648" y="6249237"/>
            <a:ext cx="3337369" cy="5033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0882FF-CD63-46CE-5C60-768FDA6FBE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2" t="18347"/>
          <a:stretch>
            <a:fillRect/>
          </a:stretch>
        </p:blipFill>
        <p:spPr>
          <a:xfrm>
            <a:off x="996461" y="1606077"/>
            <a:ext cx="9425353" cy="34348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723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BE2323"/>
                </a:solidFill>
                <a:latin typeface="Georgia"/>
              </a:defRPr>
            </a:pPr>
            <a:r>
              <a:t>BIVARIATE ANALYSIS — PRICE BY FUEL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88136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078992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91919"/>
                </a:solidFill>
                <a:latin typeface="Georgia"/>
              </a:defRPr>
            </a:pPr>
            <a:r>
              <a:t>How does average price vary across different fuel types?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13881"/>
            <a:ext cx="98724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Ø"/>
              <a:defRPr sz="1300">
                <a:solidFill>
                  <a:srgbClr val="191919"/>
                </a:solidFill>
                <a:latin typeface="Georgia"/>
              </a:defRPr>
            </a:pPr>
            <a:r>
              <a:rPr lang="en-IN" sz="16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average listed price varies across the different fuel types, with [highest fuel type] having the highest average price and [lowest fuel type] having the lowest average price in the dataset.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7C6547-273A-77A9-108C-E1B958843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504" y="6180657"/>
            <a:ext cx="3337369" cy="5033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18CA74-5757-1ECB-587B-1AE1CAF706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1" t="27041"/>
          <a:stretch>
            <a:fillRect/>
          </a:stretch>
        </p:blipFill>
        <p:spPr>
          <a:xfrm>
            <a:off x="996460" y="1702705"/>
            <a:ext cx="9179169" cy="314466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BE2323"/>
                </a:solidFill>
                <a:latin typeface="Georgia"/>
              </a:defRPr>
            </a:pPr>
            <a:r>
              <a:t>BIVARIATE ANALYSIS — PRICE VS KM DRIVEN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88136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0" y="6428232"/>
            <a:ext cx="184731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BE2323"/>
                </a:solidFill>
                <a:latin typeface="Aptos"/>
              </a:defRPr>
            </a:pP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777240" y="1078992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91919"/>
                </a:solidFill>
                <a:latin typeface="Georgia"/>
              </a:defRPr>
            </a:pPr>
            <a:r>
              <a:t>Is there a visible relationship between kilometers driven and listed price?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884" y="5486620"/>
            <a:ext cx="96850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Ø"/>
              <a:defRPr sz="1300">
                <a:solidFill>
                  <a:srgbClr val="191919"/>
                </a:solidFill>
                <a:latin typeface="Georgia"/>
              </a:defRPr>
            </a:pPr>
            <a:r>
              <a:rPr lang="en-IN" sz="16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scatter plot shows no clear linear relationship between KM Driven and listed Price. Price varies considerably across different levels of </a:t>
            </a:r>
            <a:r>
              <a:rPr lang="en-IN" sz="1600" dirty="0" err="1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kilometers</a:t>
            </a:r>
            <a:r>
              <a:rPr lang="en-IN" sz="16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driven.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458181-2558-0DBF-C247-0B08F138C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1352" y="6193260"/>
            <a:ext cx="3337369" cy="5033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9EF8A3-D22C-66B9-EE76-4070BCD426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0" t="21144"/>
          <a:stretch>
            <a:fillRect/>
          </a:stretch>
        </p:blipFill>
        <p:spPr>
          <a:xfrm>
            <a:off x="1137137" y="1734602"/>
            <a:ext cx="9214339" cy="338879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723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BE2323"/>
                </a:solidFill>
                <a:latin typeface="Georgia"/>
              </a:defRPr>
            </a:pPr>
            <a:r>
              <a:t>BIVARIATE ANALYSIS — PRICE VS YEAR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88136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078992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91919"/>
                </a:solidFill>
                <a:latin typeface="Georgia"/>
              </a:defRPr>
            </a:pPr>
            <a:r>
              <a:t>How does price vary across vehicle years?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79008"/>
            <a:ext cx="10268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Ø"/>
              <a:defRPr sz="1300">
                <a:solidFill>
                  <a:srgbClr val="191919"/>
                </a:solidFill>
                <a:latin typeface="Georgia"/>
              </a:defRPr>
            </a:pPr>
            <a:r>
              <a:rPr lang="en-IN" sz="16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Prices vary considerably across different manufacturing years. Newer vehicles generally show a wider range of prices, while older vehicles are mostly concentrated in the lower price range.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8F3780-7AF3-6FCA-BFA3-943AEDACF5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362" b="2165"/>
          <a:stretch>
            <a:fillRect/>
          </a:stretch>
        </p:blipFill>
        <p:spPr>
          <a:xfrm>
            <a:off x="777240" y="1608055"/>
            <a:ext cx="9492176" cy="34937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858387-749E-F9D9-EB2E-812716732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427" y="6258398"/>
            <a:ext cx="3337369" cy="50337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BE2323"/>
                </a:solidFill>
                <a:latin typeface="Georgia"/>
              </a:defRPr>
            </a:pPr>
            <a:r>
              <a:t>MULTIVARIATE ANALYSIS — CORRELATION HEATMAP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88136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078992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91919"/>
                </a:solidFill>
                <a:latin typeface="Georgia"/>
              </a:defRPr>
            </a:pPr>
            <a:r>
              <a:t>What relationships can be observed among the numerical variables?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996445"/>
            <a:ext cx="399592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and KM Driven show almost no correlation (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-0.0018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and Price show a very weak positive correlation (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0.096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KM Driven and Price show a weak positive correlation (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F28A68-5E0D-88CA-AF53-DB18551A5B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804" b="-1"/>
          <a:stretch>
            <a:fillRect/>
          </a:stretch>
        </p:blipFill>
        <p:spPr>
          <a:xfrm>
            <a:off x="640080" y="1732052"/>
            <a:ext cx="6281928" cy="45445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74C1FAB-E91D-7C65-9BCF-741837AB7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6276570"/>
            <a:ext cx="3337369" cy="50337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BE2323"/>
                </a:solidFill>
                <a:latin typeface="Georgia"/>
              </a:defRPr>
            </a:pPr>
            <a:r>
              <a:t>MULTIVARIATE ANALYSIS — COMBINED RELATIONSHIPS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88136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078992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91919"/>
                </a:solidFill>
                <a:latin typeface="Georgia"/>
              </a:defRPr>
            </a:pPr>
            <a:r>
              <a:t>How do price, usage and vehicle categories interact when viewed together?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374904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pairplot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the relationships among Year, KM Driven, and Price together.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Year–Price and Year–KM Driven relationships appear relatively weak.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KM Driven and Price also show considerable scatter, with no strong linear pattern.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0A2830-72D7-2A48-E7D3-406B8A247E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47"/>
          <a:stretch>
            <a:fillRect/>
          </a:stretch>
        </p:blipFill>
        <p:spPr>
          <a:xfrm>
            <a:off x="862373" y="1828800"/>
            <a:ext cx="6504472" cy="45868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6CD8D3A-3FC4-32FB-1E05-EBFB9835C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6249237"/>
            <a:ext cx="3337369" cy="50337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BE2323"/>
                </a:solidFill>
                <a:latin typeface="Georgia"/>
              </a:defRPr>
            </a:pPr>
            <a:r>
              <a:t>PIVOT TABLES &amp; KEY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88136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44007"/>
            <a:ext cx="384048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ü"/>
              <a:defRPr sz="1500">
                <a:solidFill>
                  <a:srgbClr val="191919"/>
                </a:solidFill>
                <a:latin typeface="Georgia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Brand → Average Price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ü"/>
              <a:defRPr sz="1500">
                <a:solidFill>
                  <a:srgbClr val="191919"/>
                </a:solidFill>
                <a:latin typeface="Georgia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Fuel Type → Average Price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ü"/>
              <a:defRPr sz="1500">
                <a:solidFill>
                  <a:srgbClr val="191919"/>
                </a:solidFill>
                <a:latin typeface="Georgia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Transmission → Average Price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ü"/>
              <a:defRPr sz="1500">
                <a:solidFill>
                  <a:srgbClr val="191919"/>
                </a:solidFill>
                <a:latin typeface="Georgia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→ Average Price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ü"/>
              <a:defRPr sz="1500">
                <a:solidFill>
                  <a:srgbClr val="191919"/>
                </a:solidFill>
                <a:latin typeface="Georgia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→ Average KM Driven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13005"/>
            <a:ext cx="10789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 sz="1200">
                <a:latin typeface="Georgia"/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 tables provide category-level summaries that make it easier to compare average prices and average KM driven across different vehicle categories.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707BD2-7955-0848-2A24-EBF7C5758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484" y="1126101"/>
            <a:ext cx="2072820" cy="37257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CE612EE-33AB-A9D5-D2F9-EC81AF104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146" y="1103090"/>
            <a:ext cx="2423370" cy="19481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8758D29-4E06-FFF6-4956-BB85E423A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742" y="3113642"/>
            <a:ext cx="2415749" cy="173816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734AD52-7FF0-73AC-722D-0742893236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3979" y="1098881"/>
            <a:ext cx="1714649" cy="375292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6520732-F707-2661-51EF-ACCFA132FD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4066" y="1105779"/>
            <a:ext cx="2004234" cy="375292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649D45E-CE8D-AEBC-DFFE-05DE1D8FD6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1080" y="6276570"/>
            <a:ext cx="3337369" cy="50337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BE2323"/>
                </a:solidFill>
                <a:latin typeface="Georgia"/>
              </a:defRPr>
            </a:pPr>
            <a:r>
              <a:t>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88136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02536" y="1325880"/>
            <a:ext cx="74797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scraped dataset contained 211 initial listings and 187 records after cleaning.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Brand, fuel type and transmission show different distributions within the collected sample.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price varies across brands, fuel types and transmission categories.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can be examined against KM Driven and vehicle Year to understand pricing patterns.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and multivariate analysis provide a broader view of relationships among numerical variables.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findings should be interpreted as patterns within the Cars24 Hyderabad sample.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7F922B-6A5B-E3E0-C442-448A13410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76" y="6289471"/>
            <a:ext cx="3337369" cy="50337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BE2323"/>
                </a:solidFill>
                <a:latin typeface="Georgia"/>
              </a:defRPr>
            </a:pPr>
            <a:r>
              <a:t>CHALLENGES FACED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88136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12848" y="1325880"/>
            <a:ext cx="79187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Cars24 listings were dynamically rendered, so basic requests did not expose the complete set of visible listings.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Content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Selenium was used to load and scroll through the page to collect additional records.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Some scraped records had missing Year or Model values.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KM Driven and Price were captured in text formats and required conversion.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Different chart types were selected based on the variable type and analysis objective.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9B914B-3404-8FB8-1590-71374AC04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2" y="6258839"/>
            <a:ext cx="3337369" cy="50337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0058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BE2323"/>
                </a:solidFill>
                <a:latin typeface="Georgia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41832"/>
            <a:ext cx="1088136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0" y="6428232"/>
            <a:ext cx="184731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BE2323"/>
                </a:solidFill>
                <a:latin typeface="Apto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2011680" y="1135972"/>
            <a:ext cx="80650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collected used-car listing data from Cars24 Hyderabad using web scraping.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scraped data was cleaned and transformed into a structured dataset suitable for analysis.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Univariate, bivariate and multivariate analysis were performed to understand data distributions and relationships.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provided practical experience in web scraping, Pandas, data cleaning and exploratory data analysis.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can include collecting more listings, comparing additional locations, and building a price-prediction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55778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BE2323"/>
                </a:solidFill>
                <a:latin typeface="Georgia"/>
              </a:defRPr>
            </a:pPr>
            <a:r>
              <a:t>THANK YOU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BCA70E-D9C8-2399-CF8D-8D6261AAF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5944" y="6276570"/>
            <a:ext cx="3337369" cy="5033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1250</Words>
  <Application>Microsoft Office PowerPoint</Application>
  <PresentationFormat>Widescreen</PresentationFormat>
  <Paragraphs>119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 Teja Gollapalli</dc:creator>
  <cp:keywords/>
  <dc:description>generated using python-pptx</dc:description>
  <cp:lastModifiedBy>Sai Teja Gollapalli</cp:lastModifiedBy>
  <cp:revision>10</cp:revision>
  <dcterms:created xsi:type="dcterms:W3CDTF">2013-01-27T09:14:16Z</dcterms:created>
  <dcterms:modified xsi:type="dcterms:W3CDTF">2026-09-29T10:48:46Z</dcterms:modified>
  <cp:category/>
</cp:coreProperties>
</file>